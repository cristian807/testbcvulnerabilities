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B02305-9E90-4B4A-8494-DEAE8C393B30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64204-E9B7-403E-A163-4DCBBCB161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2797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D64204-E9B7-403E-A163-4DCBBCB161EB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1842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27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599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57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10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205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95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498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143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6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09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42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799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3473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243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2372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228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859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80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08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56032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80805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</a:rPr>
              <a:t>SOLUCIÓN INTEGRAL DE GOBIERNO Y ASEGURAMIENTO DE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03765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dirty="0">
                <a:solidFill>
                  <a:srgbClr val="ADD8E6"/>
                </a:solidFill>
              </a:rPr>
              <a:t>Marco COBIT – </a:t>
            </a:r>
            <a:r>
              <a:rPr sz="1800" b="0" dirty="0" err="1">
                <a:solidFill>
                  <a:srgbClr val="ADD8E6"/>
                </a:solidFill>
              </a:rPr>
              <a:t>Gestión</a:t>
            </a:r>
            <a:r>
              <a:rPr sz="1800" b="0" dirty="0">
                <a:solidFill>
                  <a:srgbClr val="ADD8E6"/>
                </a:solidFill>
              </a:rPr>
              <a:t> de </a:t>
            </a:r>
            <a:r>
              <a:rPr sz="1800" b="0" dirty="0" err="1">
                <a:solidFill>
                  <a:srgbClr val="ADD8E6"/>
                </a:solidFill>
              </a:rPr>
              <a:t>Riesgo</a:t>
            </a:r>
            <a:r>
              <a:rPr sz="1800" b="0" dirty="0">
                <a:solidFill>
                  <a:srgbClr val="ADD8E6"/>
                </a:solidFill>
              </a:rPr>
              <a:t> para </a:t>
            </a:r>
            <a:r>
              <a:rPr sz="1800" b="0" dirty="0" err="1">
                <a:solidFill>
                  <a:srgbClr val="ADD8E6"/>
                </a:solidFill>
              </a:rPr>
              <a:t>Portafolio</a:t>
            </a:r>
            <a:r>
              <a:rPr sz="1800" b="0" dirty="0">
                <a:solidFill>
                  <a:srgbClr val="ADD8E6"/>
                </a:solidFill>
              </a:rPr>
              <a:t> </a:t>
            </a:r>
            <a:r>
              <a:rPr sz="1800" b="0" dirty="0" err="1">
                <a:solidFill>
                  <a:srgbClr val="ADD8E6"/>
                </a:solidFill>
              </a:rPr>
              <a:t>Complejo</a:t>
            </a:r>
            <a:r>
              <a:rPr sz="1800" b="0" dirty="0">
                <a:solidFill>
                  <a:srgbClr val="ADD8E6"/>
                </a:solidFill>
              </a:rPr>
              <a:t> de </a:t>
            </a:r>
            <a:r>
              <a:rPr sz="1800" b="0" dirty="0" err="1">
                <a:solidFill>
                  <a:srgbClr val="ADD8E6"/>
                </a:solidFill>
              </a:rPr>
              <a:t>Aplicaciones</a:t>
            </a:r>
            <a:endParaRPr sz="1800" b="0" dirty="0">
              <a:solidFill>
                <a:srgbClr val="ADD8E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Agenda de la Presentación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3350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solidFill>
                  <a:srgbClr val="0D2B55"/>
                </a:solidFill>
              </a:rPr>
              <a:t>Diagnóstico</a:t>
            </a:r>
            <a:r>
              <a:rPr sz="1300" b="0" dirty="0">
                <a:solidFill>
                  <a:srgbClr val="0D2B55"/>
                </a:solidFill>
              </a:rPr>
              <a:t>: El </a:t>
            </a:r>
            <a:r>
              <a:rPr sz="1300" b="0" dirty="0" err="1">
                <a:solidFill>
                  <a:srgbClr val="0D2B55"/>
                </a:solidFill>
              </a:rPr>
              <a:t>Problema</a:t>
            </a:r>
            <a:r>
              <a:rPr sz="1300" b="0" dirty="0">
                <a:solidFill>
                  <a:srgbClr val="0D2B55"/>
                </a:solidFill>
              </a:rPr>
              <a:t> que </a:t>
            </a:r>
            <a:r>
              <a:rPr sz="1300" b="0" dirty="0" err="1">
                <a:solidFill>
                  <a:srgbClr val="0D2B55"/>
                </a:solidFill>
              </a:rPr>
              <a:t>Enfrentamos</a:t>
            </a:r>
            <a:endParaRPr sz="1300" b="0" dirty="0">
              <a:solidFill>
                <a:srgbClr val="0D2B55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02920" cy="50292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6288" y="13350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B55"/>
                </a:solidFill>
              </a:rPr>
              <a:t>Solución Propuesta: Marco COBIT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84831"/>
            <a:ext cx="502920" cy="50292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08483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13969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B55"/>
                </a:solidFill>
              </a:rPr>
              <a:t>Procesos Críticos Seleccionados (APO12 · MEA02 · DSS05)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084831"/>
            <a:ext cx="502920" cy="50292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208483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13969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B55"/>
                </a:solidFill>
              </a:rPr>
              <a:t>Criterios de Aseguramiento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89504"/>
            <a:ext cx="502920" cy="50292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28895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29443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B55"/>
                </a:solidFill>
              </a:rPr>
              <a:t>Metodología de Evaluación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889504"/>
            <a:ext cx="502920" cy="50292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28895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29443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B55"/>
                </a:solidFill>
              </a:rPr>
              <a:t>Roadmap de Implementación – 3 Fases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94176"/>
            <a:ext cx="502920" cy="50292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6941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374903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B55"/>
                </a:solidFill>
              </a:rPr>
              <a:t>Quick Wins: Resultados en 30 · 60 · 90 Días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694176"/>
            <a:ext cx="502920" cy="50292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36941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374903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B55"/>
                </a:solidFill>
              </a:rPr>
              <a:t>Propuesta de Valor para el Negocio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498848"/>
            <a:ext cx="502920" cy="50292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44988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45537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B55"/>
                </a:solidFill>
              </a:rPr>
              <a:t>Recursos Necesarios y Próximos Pasos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Diagnóstico: El Problema que Enfrentamos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¿Por qué necesitamos actuar ahora?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88920" cy="20116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" y="16276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</a:rPr>
              <a:t>⚠ </a:t>
            </a:r>
            <a:r>
              <a:rPr sz="1400" b="1" dirty="0" err="1">
                <a:solidFill>
                  <a:srgbClr val="FFFFFF"/>
                </a:solidFill>
              </a:rPr>
              <a:t>Riesgos</a:t>
            </a:r>
            <a:r>
              <a:rPr sz="1400" b="1" dirty="0">
                <a:solidFill>
                  <a:srgbClr val="FFFFFF"/>
                </a:solidFill>
              </a:rPr>
              <a:t> </a:t>
            </a:r>
            <a:r>
              <a:rPr sz="1400" b="1" dirty="0" err="1">
                <a:solidFill>
                  <a:srgbClr val="FFFFFF"/>
                </a:solidFill>
              </a:rPr>
              <a:t>Operativos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9204" y="261269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</a:rPr>
              <a:t>Sin </a:t>
            </a:r>
            <a:r>
              <a:rPr sz="1200" b="0" dirty="0" err="1">
                <a:solidFill>
                  <a:srgbClr val="FFFFFF"/>
                </a:solidFill>
              </a:rPr>
              <a:t>gestión</a:t>
            </a:r>
            <a:r>
              <a:rPr sz="1200" b="0" dirty="0">
                <a:solidFill>
                  <a:srgbClr val="FFFFFF"/>
                </a:solidFill>
              </a:rPr>
              <a:t> formal de </a:t>
            </a:r>
            <a:r>
              <a:rPr sz="1200" b="0" dirty="0" err="1">
                <a:solidFill>
                  <a:srgbClr val="FFFFFF"/>
                </a:solidFill>
              </a:rPr>
              <a:t>riesgos</a:t>
            </a:r>
            <a:r>
              <a:rPr sz="1200" b="0" dirty="0">
                <a:solidFill>
                  <a:srgbClr val="FFFFFF"/>
                </a:solidFill>
              </a:rPr>
              <a:t>;
sin </a:t>
            </a:r>
            <a:r>
              <a:rPr sz="1200" b="0" dirty="0" err="1">
                <a:solidFill>
                  <a:srgbClr val="FFFFFF"/>
                </a:solidFill>
              </a:rPr>
              <a:t>visibilidad</a:t>
            </a:r>
            <a:r>
              <a:rPr sz="1200" b="0" dirty="0">
                <a:solidFill>
                  <a:srgbClr val="FFFFFF"/>
                </a:solidFill>
              </a:rPr>
              <a:t> </a:t>
            </a:r>
            <a:r>
              <a:rPr sz="1200" b="0" dirty="0" err="1">
                <a:solidFill>
                  <a:srgbClr val="FFFFFF"/>
                </a:solidFill>
              </a:rPr>
              <a:t>ejecutiva</a:t>
            </a:r>
            <a:r>
              <a:rPr sz="1200" b="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25880"/>
            <a:ext cx="2788920" cy="20116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01568" y="1417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</a:rPr>
              <a:t>⚠ </a:t>
            </a:r>
            <a:r>
              <a:rPr sz="1400" b="1" dirty="0" err="1">
                <a:solidFill>
                  <a:srgbClr val="FFFFFF"/>
                </a:solidFill>
              </a:rPr>
              <a:t>Incumplimiento</a:t>
            </a:r>
            <a:r>
              <a:rPr sz="1400" b="1" dirty="0">
                <a:solidFill>
                  <a:srgbClr val="FFFFFF"/>
                </a:solidFill>
              </a:rPr>
              <a:t> </a:t>
            </a:r>
            <a:r>
              <a:rPr sz="1400" b="1" dirty="0" err="1">
                <a:solidFill>
                  <a:srgbClr val="FFFFFF"/>
                </a:solidFill>
              </a:rPr>
              <a:t>Regulatorio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01568" y="19659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Observaciones de auditores;
exposición a sanciones.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2788920" cy="2011680"/>
          </a:xfrm>
          <a:prstGeom prst="round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27648" y="1417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⚠ Sin Generación de Valor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9659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TI no demuestra retorno;
brecha entre negocio y tecnología.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325880"/>
            <a:ext cx="2788920" cy="2011680"/>
          </a:xfrm>
          <a:prstGeom prst="round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53728" y="1417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⚠ Portafolio sin Perfil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19659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1.000 apps activas sin clasificación
ni evaluación de riesgo.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20440"/>
            <a:ext cx="1143000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547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</a:rPr>
              <a:t>MAPEO DE SÍNTOMAS → PROCESOS COBIT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959352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444444"/>
                </a:solidFill>
              </a:rPr>
              <a:t>Riesgos</a:t>
            </a:r>
            <a:r>
              <a:rPr sz="1100" b="0" dirty="0">
                <a:solidFill>
                  <a:srgbClr val="444444"/>
                </a:solidFill>
              </a:rPr>
              <a:t> </a:t>
            </a:r>
            <a:r>
              <a:rPr sz="1100" b="0" dirty="0" err="1">
                <a:solidFill>
                  <a:srgbClr val="444444"/>
                </a:solidFill>
              </a:rPr>
              <a:t>operativos</a:t>
            </a:r>
            <a:r>
              <a:rPr sz="1100" b="0" dirty="0">
                <a:solidFill>
                  <a:srgbClr val="444444"/>
                </a:solidFill>
              </a:rPr>
              <a:t> sin </a:t>
            </a:r>
            <a:r>
              <a:rPr sz="1100" b="0" dirty="0" err="1">
                <a:solidFill>
                  <a:srgbClr val="444444"/>
                </a:solidFill>
              </a:rPr>
              <a:t>gestión</a:t>
            </a:r>
            <a:r>
              <a:rPr sz="1100" b="0" dirty="0">
                <a:solidFill>
                  <a:srgbClr val="444444"/>
                </a:solidFill>
              </a:rPr>
              <a:t> formal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3310" y="3945636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79E"/>
                </a:solidFill>
              </a:rPr>
              <a:t>APO12 – Gestión del Riesgo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34840"/>
            <a:ext cx="11430000" cy="47548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462272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444444"/>
                </a:solidFill>
              </a:rPr>
              <a:t>Observaciones</a:t>
            </a:r>
            <a:r>
              <a:rPr sz="1100" b="0" dirty="0">
                <a:solidFill>
                  <a:srgbClr val="444444"/>
                </a:solidFill>
              </a:rPr>
              <a:t> de </a:t>
            </a:r>
            <a:r>
              <a:rPr sz="1100" b="0" dirty="0" err="1">
                <a:solidFill>
                  <a:srgbClr val="444444"/>
                </a:solidFill>
              </a:rPr>
              <a:t>cumplimiento</a:t>
            </a:r>
            <a:r>
              <a:rPr sz="1100" b="0" dirty="0">
                <a:solidFill>
                  <a:srgbClr val="444444"/>
                </a:solidFill>
              </a:rPr>
              <a:t> </a:t>
            </a:r>
            <a:r>
              <a:rPr sz="1100" b="0" dirty="0" err="1">
                <a:solidFill>
                  <a:srgbClr val="444444"/>
                </a:solidFill>
              </a:rPr>
              <a:t>regulatorio</a:t>
            </a:r>
            <a:endParaRPr sz="1100" b="0" dirty="0">
              <a:solidFill>
                <a:srgbClr val="444444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78040" y="446227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79E"/>
                </a:solidFill>
              </a:rPr>
              <a:t>MEA02 – Sistema de Control Interno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937760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965192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Falta de generación de valor de TI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96519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79E"/>
                </a:solidFill>
              </a:rPr>
              <a:t>EDM02 – Beneficios del Valor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440680"/>
            <a:ext cx="11430000" cy="47548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5468112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1.000 apps sin perfil de riesgo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546811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79E"/>
                </a:solidFill>
              </a:rPr>
              <a:t>APO12 + DSS05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Solución Propuesta: Marco COBIT 2019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Un enfoque estructurado, progresivo y accionable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B55"/>
                </a:solidFill>
              </a:rPr>
              <a:t>Objetivo central de la solución: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Establecer una base sólida de gobierno de TI que permita conocer el nivel de riesgo real del portafolio tecnológico, priorizar controles donde más se necesitan y reducir la exposición ante reguladores, auditores y potenciales incidentes.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743200" cy="1005840"/>
          </a:xfrm>
          <a:prstGeom prst="round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6243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VISIBILIDAD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992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Conocer el riesgo real
de las 1.000 aplicaciones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560320"/>
            <a:ext cx="2743200" cy="1005840"/>
          </a:xfrm>
          <a:prstGeom prst="round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26243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PRIORIZACIÓN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9992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Enfocar controles donde
más se necesitan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560320"/>
            <a:ext cx="2743200" cy="10058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6243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CUMPLIMIENTO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992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Reducir exposición ante
reguladores y auditores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2560320"/>
            <a:ext cx="2743200" cy="1005840"/>
          </a:xfrm>
          <a:prstGeom prst="round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26243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9992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Demostrar retorno de
la inversión en TI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94760"/>
            <a:ext cx="11247120" cy="36576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82219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¿POR QUÉ COBIT?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06240"/>
            <a:ext cx="112471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233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✔  Marco reconocido internacionalmente (ISACA) para gobierno y gestión de TI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45152"/>
            <a:ext cx="11247120" cy="42062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467258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✔  Alineado con estándares ISO, ITIL, NIST y marcos regulatorios locales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84064"/>
            <a:ext cx="112471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511149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✔  Permite medir el nivel de capacidad de los procesos (escala 0–3)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522975"/>
            <a:ext cx="11247120" cy="42062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55504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✔  Orientado a resultados de negocio, no solo a controles técnicos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61888"/>
            <a:ext cx="112471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✔  Escalable: aplica tanto a nivel organizacional como por aplicación individual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Procesos COBIT Seleccionados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ADD8E6"/>
                </a:solidFill>
              </a:rPr>
              <a:t>Tres</a:t>
            </a:r>
            <a:r>
              <a:rPr sz="1400" b="0" dirty="0">
                <a:solidFill>
                  <a:srgbClr val="ADD8E6"/>
                </a:solidFill>
              </a:rPr>
              <a:t> </a:t>
            </a:r>
            <a:r>
              <a:rPr sz="1400" b="0" dirty="0" err="1">
                <a:solidFill>
                  <a:srgbClr val="ADD8E6"/>
                </a:solidFill>
              </a:rPr>
              <a:t>procesos</a:t>
            </a:r>
            <a:r>
              <a:rPr sz="1400" b="0" dirty="0">
                <a:solidFill>
                  <a:srgbClr val="ADD8E6"/>
                </a:solidFill>
              </a:rPr>
              <a:t> </a:t>
            </a:r>
            <a:r>
              <a:rPr sz="1400" b="0" dirty="0" err="1">
                <a:solidFill>
                  <a:srgbClr val="ADD8E6"/>
                </a:solidFill>
              </a:rPr>
              <a:t>críticos</a:t>
            </a:r>
            <a:r>
              <a:rPr sz="1400" b="0" dirty="0">
                <a:solidFill>
                  <a:srgbClr val="ADD8E6"/>
                </a:solidFill>
              </a:rPr>
              <a:t> que </a:t>
            </a:r>
            <a:r>
              <a:rPr sz="1400" b="0" dirty="0" err="1">
                <a:solidFill>
                  <a:srgbClr val="ADD8E6"/>
                </a:solidFill>
              </a:rPr>
              <a:t>responden</a:t>
            </a:r>
            <a:r>
              <a:rPr sz="1400" b="0" dirty="0">
                <a:solidFill>
                  <a:srgbClr val="ADD8E6"/>
                </a:solidFill>
              </a:rPr>
              <a:t> </a:t>
            </a:r>
            <a:r>
              <a:rPr sz="1400" b="0" dirty="0" err="1">
                <a:solidFill>
                  <a:srgbClr val="ADD8E6"/>
                </a:solidFill>
              </a:rPr>
              <a:t>directamente</a:t>
            </a:r>
            <a:r>
              <a:rPr sz="1400" b="0" dirty="0">
                <a:solidFill>
                  <a:srgbClr val="ADD8E6"/>
                </a:solidFill>
              </a:rPr>
              <a:t> a </a:t>
            </a:r>
            <a:r>
              <a:rPr sz="1400" b="0" dirty="0" err="1">
                <a:solidFill>
                  <a:srgbClr val="ADD8E6"/>
                </a:solidFill>
              </a:rPr>
              <a:t>los</a:t>
            </a:r>
            <a:r>
              <a:rPr sz="1400" b="0" dirty="0">
                <a:solidFill>
                  <a:srgbClr val="ADD8E6"/>
                </a:solidFill>
              </a:rPr>
              <a:t> </a:t>
            </a:r>
            <a:r>
              <a:rPr sz="1400" b="0" dirty="0" err="1">
                <a:solidFill>
                  <a:srgbClr val="ADD8E6"/>
                </a:solidFill>
              </a:rPr>
              <a:t>síntomas</a:t>
            </a:r>
            <a:r>
              <a:rPr sz="1400" b="0" dirty="0">
                <a:solidFill>
                  <a:srgbClr val="ADD8E6"/>
                </a:solidFill>
              </a:rPr>
              <a:t> </a:t>
            </a:r>
            <a:r>
              <a:rPr sz="1400" b="0" dirty="0" err="1">
                <a:solidFill>
                  <a:srgbClr val="ADD8E6"/>
                </a:solidFill>
              </a:rPr>
              <a:t>identificados</a:t>
            </a:r>
            <a:endParaRPr sz="1400" b="0" dirty="0">
              <a:solidFill>
                <a:srgbClr val="ADD8E6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3749039" cy="7772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" y="126187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APO12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2618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GESTIÓN DEL RIESGO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600200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chemeClr val="bg1"/>
                </a:solidFill>
              </a:rPr>
              <a:t>Alinear</a:t>
            </a:r>
            <a:r>
              <a:rPr sz="1400" b="0" dirty="0">
                <a:solidFill>
                  <a:schemeClr val="bg1"/>
                </a:solidFill>
              </a:rPr>
              <a:t>, </a:t>
            </a:r>
            <a:r>
              <a:rPr sz="1400" b="0" dirty="0" err="1">
                <a:solidFill>
                  <a:schemeClr val="bg1"/>
                </a:solidFill>
              </a:rPr>
              <a:t>Planear</a:t>
            </a:r>
            <a:r>
              <a:rPr sz="1400" b="0" dirty="0">
                <a:solidFill>
                  <a:schemeClr val="bg1"/>
                </a:solidFill>
              </a:rPr>
              <a:t> y </a:t>
            </a:r>
            <a:r>
              <a:rPr sz="1400" b="0" dirty="0" err="1">
                <a:solidFill>
                  <a:schemeClr val="bg1"/>
                </a:solidFill>
              </a:rPr>
              <a:t>Organizar</a:t>
            </a:r>
            <a:endParaRPr sz="1400" b="0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0040" y="2011680"/>
            <a:ext cx="3749039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" y="2039006"/>
            <a:ext cx="3520440" cy="31100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2915" y="2053248"/>
            <a:ext cx="35021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FFFFFF"/>
                </a:solidFill>
              </a:rPr>
              <a:t>Prioridad</a:t>
            </a:r>
            <a:r>
              <a:rPr sz="1400" b="1" dirty="0">
                <a:solidFill>
                  <a:srgbClr val="FFFFFF"/>
                </a:solidFill>
              </a:rPr>
              <a:t>: ALTA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468882"/>
            <a:ext cx="35204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444444"/>
                </a:solidFill>
              </a:rPr>
              <a:t>Núcleo</a:t>
            </a:r>
            <a:r>
              <a:rPr sz="1400" b="0" dirty="0">
                <a:solidFill>
                  <a:srgbClr val="444444"/>
                </a:solidFill>
              </a:rPr>
              <a:t> de </a:t>
            </a:r>
            <a:r>
              <a:rPr sz="1400" b="0" dirty="0" err="1">
                <a:solidFill>
                  <a:srgbClr val="444444"/>
                </a:solidFill>
              </a:rPr>
              <a:t>toda</a:t>
            </a:r>
            <a:r>
              <a:rPr sz="1400" b="0" dirty="0">
                <a:solidFill>
                  <a:srgbClr val="444444"/>
                </a:solidFill>
              </a:rPr>
              <a:t> la </a:t>
            </a:r>
            <a:r>
              <a:rPr sz="1400" b="0" dirty="0" err="1">
                <a:solidFill>
                  <a:srgbClr val="444444"/>
                </a:solidFill>
              </a:rPr>
              <a:t>propuesta</a:t>
            </a:r>
            <a:r>
              <a:rPr sz="1400" b="0" dirty="0">
                <a:solidFill>
                  <a:srgbClr val="444444"/>
                </a:solidFill>
              </a:rPr>
              <a:t>. Sin </a:t>
            </a:r>
            <a:r>
              <a:rPr sz="1400" b="0" dirty="0" err="1">
                <a:solidFill>
                  <a:srgbClr val="444444"/>
                </a:solidFill>
              </a:rPr>
              <a:t>gestión</a:t>
            </a:r>
            <a:r>
              <a:rPr sz="1400" b="0" dirty="0">
                <a:solidFill>
                  <a:srgbClr val="444444"/>
                </a:solidFill>
              </a:rPr>
              <a:t> formal de </a:t>
            </a:r>
            <a:r>
              <a:rPr sz="1400" b="0" dirty="0" err="1">
                <a:solidFill>
                  <a:srgbClr val="444444"/>
                </a:solidFill>
              </a:rPr>
              <a:t>riesgos</a:t>
            </a:r>
            <a:r>
              <a:rPr sz="1400" b="0" dirty="0">
                <a:solidFill>
                  <a:srgbClr val="444444"/>
                </a:solidFill>
              </a:rPr>
              <a:t>, las </a:t>
            </a:r>
            <a:r>
              <a:rPr sz="1400" b="0" dirty="0" err="1">
                <a:solidFill>
                  <a:srgbClr val="444444"/>
                </a:solidFill>
              </a:rPr>
              <a:t>demás</a:t>
            </a:r>
            <a:r>
              <a:rPr sz="1400" b="0" dirty="0">
                <a:solidFill>
                  <a:srgbClr val="444444"/>
                </a:solidFill>
              </a:rPr>
              <a:t> </a:t>
            </a:r>
            <a:r>
              <a:rPr sz="1400" b="0" dirty="0" err="1">
                <a:solidFill>
                  <a:srgbClr val="444444"/>
                </a:solidFill>
              </a:rPr>
              <a:t>observaciones</a:t>
            </a:r>
            <a:r>
              <a:rPr sz="1400" b="0" dirty="0">
                <a:solidFill>
                  <a:srgbClr val="444444"/>
                </a:solidFill>
              </a:rPr>
              <a:t> son </a:t>
            </a:r>
            <a:r>
              <a:rPr sz="1400" b="0" dirty="0" err="1">
                <a:solidFill>
                  <a:srgbClr val="444444"/>
                </a:solidFill>
              </a:rPr>
              <a:t>consecuencia</a:t>
            </a:r>
            <a:r>
              <a:rPr sz="1400" b="0" dirty="0">
                <a:solidFill>
                  <a:srgbClr val="444444"/>
                </a:solidFill>
              </a:rPr>
              <a:t> </a:t>
            </a:r>
            <a:r>
              <a:rPr sz="1400" b="0" dirty="0" err="1">
                <a:solidFill>
                  <a:srgbClr val="444444"/>
                </a:solidFill>
              </a:rPr>
              <a:t>directa</a:t>
            </a:r>
            <a:r>
              <a:rPr sz="1400" b="0" dirty="0">
                <a:solidFill>
                  <a:srgbClr val="444444"/>
                </a:solidFill>
              </a:rPr>
              <a:t> de </a:t>
            </a:r>
            <a:r>
              <a:rPr sz="1400" b="0" dirty="0" err="1">
                <a:solidFill>
                  <a:srgbClr val="444444"/>
                </a:solidFill>
              </a:rPr>
              <a:t>esta</a:t>
            </a:r>
            <a:r>
              <a:rPr sz="1400" b="0" dirty="0">
                <a:solidFill>
                  <a:srgbClr val="444444"/>
                </a:solidFill>
              </a:rPr>
              <a:t> </a:t>
            </a:r>
            <a:r>
              <a:rPr sz="1400" b="0" dirty="0" err="1">
                <a:solidFill>
                  <a:srgbClr val="444444"/>
                </a:solidFill>
              </a:rPr>
              <a:t>brecha</a:t>
            </a:r>
            <a:r>
              <a:rPr sz="1400" b="0" dirty="0">
                <a:solidFill>
                  <a:srgbClr val="444444"/>
                </a:solidFill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3498187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0070C0"/>
                </a:solidFill>
              </a:rPr>
              <a:t>Objetivos</a:t>
            </a:r>
            <a:r>
              <a:rPr sz="1200" b="1" dirty="0">
                <a:solidFill>
                  <a:srgbClr val="0070C0"/>
                </a:solidFill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3858874"/>
            <a:ext cx="3520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444444"/>
                </a:solidFill>
              </a:rPr>
              <a:t>• </a:t>
            </a:r>
            <a:r>
              <a:rPr sz="1200" b="0" dirty="0" err="1">
                <a:solidFill>
                  <a:srgbClr val="444444"/>
                </a:solidFill>
              </a:rPr>
              <a:t>Identificar</a:t>
            </a:r>
            <a:r>
              <a:rPr sz="1200" b="0" dirty="0">
                <a:solidFill>
                  <a:srgbClr val="444444"/>
                </a:solidFill>
              </a:rPr>
              <a:t> y </a:t>
            </a:r>
            <a:r>
              <a:rPr sz="1200" b="0" dirty="0" err="1">
                <a:solidFill>
                  <a:srgbClr val="444444"/>
                </a:solidFill>
              </a:rPr>
              <a:t>analizar</a:t>
            </a:r>
            <a:r>
              <a:rPr sz="1200" b="0" dirty="0">
                <a:solidFill>
                  <a:srgbClr val="444444"/>
                </a:solidFill>
              </a:rPr>
              <a:t> </a:t>
            </a:r>
            <a:r>
              <a:rPr sz="1200" b="0" dirty="0" err="1">
                <a:solidFill>
                  <a:srgbClr val="444444"/>
                </a:solidFill>
              </a:rPr>
              <a:t>riesgos</a:t>
            </a:r>
            <a:r>
              <a:rPr sz="1200" b="0" dirty="0">
                <a:solidFill>
                  <a:srgbClr val="444444"/>
                </a:solidFill>
              </a:rPr>
              <a:t> de TI </a:t>
            </a:r>
            <a:r>
              <a:rPr sz="1200" b="0" dirty="0" err="1">
                <a:solidFill>
                  <a:srgbClr val="444444"/>
                </a:solidFill>
              </a:rPr>
              <a:t>continuamente</a:t>
            </a:r>
            <a:endParaRPr sz="1200" b="0" dirty="0">
              <a:solidFill>
                <a:srgbClr val="444444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9768" y="4439305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dirty="0">
                <a:solidFill>
                  <a:srgbClr val="444444"/>
                </a:solidFill>
              </a:rPr>
              <a:t>• </a:t>
            </a:r>
            <a:r>
              <a:rPr sz="1200" b="0" dirty="0" err="1">
                <a:solidFill>
                  <a:srgbClr val="444444"/>
                </a:solidFill>
              </a:rPr>
              <a:t>Definir</a:t>
            </a:r>
            <a:r>
              <a:rPr sz="1200" b="0" dirty="0">
                <a:solidFill>
                  <a:srgbClr val="444444"/>
                </a:solidFill>
              </a:rPr>
              <a:t> </a:t>
            </a:r>
            <a:r>
              <a:rPr sz="1200" b="0" dirty="0" err="1">
                <a:solidFill>
                  <a:srgbClr val="444444"/>
                </a:solidFill>
              </a:rPr>
              <a:t>apetito</a:t>
            </a:r>
            <a:r>
              <a:rPr sz="1200" b="0" dirty="0">
                <a:solidFill>
                  <a:srgbClr val="444444"/>
                </a:solidFill>
              </a:rPr>
              <a:t> y </a:t>
            </a:r>
            <a:r>
              <a:rPr sz="1200" b="0" dirty="0" err="1">
                <a:solidFill>
                  <a:srgbClr val="444444"/>
                </a:solidFill>
              </a:rPr>
              <a:t>tolerancia</a:t>
            </a:r>
            <a:r>
              <a:rPr sz="1200" b="0" dirty="0">
                <a:solidFill>
                  <a:srgbClr val="444444"/>
                </a:solidFill>
              </a:rPr>
              <a:t> al </a:t>
            </a:r>
            <a:r>
              <a:rPr sz="1200" b="0" dirty="0" err="1">
                <a:solidFill>
                  <a:srgbClr val="444444"/>
                </a:solidFill>
              </a:rPr>
              <a:t>riesgo</a:t>
            </a:r>
            <a:endParaRPr sz="1200" b="0" dirty="0">
              <a:solidFill>
                <a:srgbClr val="444444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9768" y="4983480"/>
            <a:ext cx="3520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dirty="0">
                <a:solidFill>
                  <a:srgbClr val="444444"/>
                </a:solidFill>
              </a:rPr>
              <a:t>• </a:t>
            </a:r>
            <a:r>
              <a:rPr sz="1200" b="0" dirty="0" err="1">
                <a:solidFill>
                  <a:srgbClr val="444444"/>
                </a:solidFill>
              </a:rPr>
              <a:t>Mantener</a:t>
            </a:r>
            <a:r>
              <a:rPr sz="1200" b="0" dirty="0">
                <a:solidFill>
                  <a:srgbClr val="444444"/>
                </a:solidFill>
              </a:rPr>
              <a:t> </a:t>
            </a:r>
            <a:r>
              <a:rPr sz="1200" b="0" dirty="0" err="1">
                <a:solidFill>
                  <a:srgbClr val="444444"/>
                </a:solidFill>
              </a:rPr>
              <a:t>perfil</a:t>
            </a:r>
            <a:r>
              <a:rPr sz="1200" b="0" dirty="0">
                <a:solidFill>
                  <a:srgbClr val="444444"/>
                </a:solidFill>
              </a:rPr>
              <a:t> de </a:t>
            </a:r>
            <a:r>
              <a:rPr sz="1200" b="0" dirty="0" err="1">
                <a:solidFill>
                  <a:srgbClr val="444444"/>
                </a:solidFill>
              </a:rPr>
              <a:t>riesgo</a:t>
            </a:r>
            <a:r>
              <a:rPr sz="1200" b="0" dirty="0">
                <a:solidFill>
                  <a:srgbClr val="444444"/>
                </a:solidFill>
              </a:rPr>
              <a:t> visible para </a:t>
            </a:r>
            <a:r>
              <a:rPr sz="1200" b="0" dirty="0" err="1">
                <a:solidFill>
                  <a:srgbClr val="444444"/>
                </a:solidFill>
              </a:rPr>
              <a:t>directivos</a:t>
            </a:r>
            <a:endParaRPr sz="1200" b="0" dirty="0">
              <a:solidFill>
                <a:srgbClr val="444444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9768" y="5440680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dirty="0">
                <a:solidFill>
                  <a:srgbClr val="444444"/>
                </a:solidFill>
              </a:rPr>
              <a:t>• </a:t>
            </a:r>
            <a:r>
              <a:rPr sz="1200" b="0" dirty="0">
                <a:solidFill>
                  <a:srgbClr val="444444"/>
                </a:solidFill>
              </a:rPr>
              <a:t>Responder al </a:t>
            </a:r>
            <a:r>
              <a:rPr sz="1200" b="0" dirty="0" err="1">
                <a:solidFill>
                  <a:srgbClr val="444444"/>
                </a:solidFill>
              </a:rPr>
              <a:t>riesgo</a:t>
            </a:r>
            <a:r>
              <a:rPr sz="1200" b="0" dirty="0">
                <a:solidFill>
                  <a:srgbClr val="444444"/>
                </a:solidFill>
              </a:rPr>
              <a:t> de forma </a:t>
            </a:r>
            <a:r>
              <a:rPr sz="1200" b="0" dirty="0" err="1">
                <a:solidFill>
                  <a:srgbClr val="444444"/>
                </a:solidFill>
              </a:rPr>
              <a:t>proporcional</a:t>
            </a:r>
            <a:endParaRPr sz="1200" b="0" dirty="0">
              <a:solidFill>
                <a:srgbClr val="444444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279392" y="1234440"/>
            <a:ext cx="3749039" cy="77724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126187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MEA02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2392" y="12618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CONTROL INTERNO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600200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chemeClr val="bg1"/>
                </a:solidFill>
              </a:rPr>
              <a:t>Monitorear</a:t>
            </a:r>
            <a:r>
              <a:rPr sz="1400" b="0" dirty="0">
                <a:solidFill>
                  <a:schemeClr val="bg1"/>
                </a:solidFill>
              </a:rPr>
              <a:t>, </a:t>
            </a:r>
            <a:r>
              <a:rPr sz="1400" b="0" dirty="0" err="1">
                <a:solidFill>
                  <a:schemeClr val="bg1"/>
                </a:solidFill>
              </a:rPr>
              <a:t>Evaluar</a:t>
            </a:r>
            <a:r>
              <a:rPr sz="1400" b="0" dirty="0">
                <a:solidFill>
                  <a:schemeClr val="bg1"/>
                </a:solidFill>
              </a:rPr>
              <a:t> y </a:t>
            </a:r>
            <a:r>
              <a:rPr sz="1400" b="0" dirty="0" err="1">
                <a:solidFill>
                  <a:schemeClr val="bg1"/>
                </a:solidFill>
              </a:rPr>
              <a:t>Valorar</a:t>
            </a:r>
            <a:endParaRPr sz="1400" b="0" dirty="0">
              <a:solidFill>
                <a:schemeClr val="bg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279392" y="2011680"/>
            <a:ext cx="3749039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89120" y="2075688"/>
            <a:ext cx="3520440" cy="2834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89120" y="2084965"/>
            <a:ext cx="35753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FFFFFF"/>
                </a:solidFill>
              </a:rPr>
              <a:t>Prioridad</a:t>
            </a:r>
            <a:r>
              <a:rPr sz="1400" b="1" dirty="0">
                <a:solidFill>
                  <a:srgbClr val="FFFFFF"/>
                </a:solidFill>
              </a:rPr>
              <a:t>: ALTA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395728"/>
            <a:ext cx="35204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444444"/>
                </a:solidFill>
              </a:rPr>
              <a:t>Atiende</a:t>
            </a:r>
            <a:r>
              <a:rPr sz="1400" b="0" dirty="0">
                <a:solidFill>
                  <a:srgbClr val="444444"/>
                </a:solidFill>
              </a:rPr>
              <a:t> las </a:t>
            </a:r>
            <a:r>
              <a:rPr sz="1400" b="0" dirty="0" err="1">
                <a:solidFill>
                  <a:srgbClr val="444444"/>
                </a:solidFill>
              </a:rPr>
              <a:t>observaciones</a:t>
            </a:r>
            <a:r>
              <a:rPr sz="1400" b="0" dirty="0">
                <a:solidFill>
                  <a:srgbClr val="444444"/>
                </a:solidFill>
              </a:rPr>
              <a:t> de </a:t>
            </a:r>
            <a:r>
              <a:rPr sz="1400" b="0" dirty="0" err="1">
                <a:solidFill>
                  <a:srgbClr val="444444"/>
                </a:solidFill>
              </a:rPr>
              <a:t>cumplimiento</a:t>
            </a:r>
            <a:r>
              <a:rPr sz="1400" b="0" dirty="0">
                <a:solidFill>
                  <a:srgbClr val="444444"/>
                </a:solidFill>
              </a:rPr>
              <a:t>. Los </a:t>
            </a:r>
            <a:r>
              <a:rPr sz="1400" b="0" dirty="0" err="1">
                <a:solidFill>
                  <a:srgbClr val="444444"/>
                </a:solidFill>
              </a:rPr>
              <a:t>controles</a:t>
            </a:r>
            <a:r>
              <a:rPr sz="1400" b="0" dirty="0">
                <a:solidFill>
                  <a:srgbClr val="444444"/>
                </a:solidFill>
              </a:rPr>
              <a:t> no se </a:t>
            </a:r>
            <a:r>
              <a:rPr sz="1400" b="0" dirty="0" err="1">
                <a:solidFill>
                  <a:srgbClr val="444444"/>
                </a:solidFill>
              </a:rPr>
              <a:t>monitorean</a:t>
            </a:r>
            <a:r>
              <a:rPr sz="1400" b="0" dirty="0">
                <a:solidFill>
                  <a:srgbClr val="444444"/>
                </a:solidFill>
              </a:rPr>
              <a:t> </a:t>
            </a:r>
            <a:r>
              <a:rPr sz="1400" b="0" dirty="0" err="1">
                <a:solidFill>
                  <a:srgbClr val="444444"/>
                </a:solidFill>
              </a:rPr>
              <a:t>efectivamente</a:t>
            </a:r>
            <a:r>
              <a:rPr sz="1400" b="0" dirty="0">
                <a:solidFill>
                  <a:srgbClr val="444444"/>
                </a:solidFill>
              </a:rPr>
              <a:t> o </a:t>
            </a:r>
            <a:r>
              <a:rPr sz="1400" b="0" dirty="0" err="1">
                <a:solidFill>
                  <a:srgbClr val="444444"/>
                </a:solidFill>
              </a:rPr>
              <a:t>existen</a:t>
            </a:r>
            <a:r>
              <a:rPr sz="1400" b="0" dirty="0">
                <a:solidFill>
                  <a:srgbClr val="444444"/>
                </a:solidFill>
              </a:rPr>
              <a:t> </a:t>
            </a:r>
            <a:r>
              <a:rPr sz="1400" b="0" dirty="0" err="1">
                <a:solidFill>
                  <a:srgbClr val="444444"/>
                </a:solidFill>
              </a:rPr>
              <a:t>deficiencias</a:t>
            </a:r>
            <a:r>
              <a:rPr sz="1400" b="0" dirty="0">
                <a:solidFill>
                  <a:srgbClr val="444444"/>
                </a:solidFill>
              </a:rPr>
              <a:t> no </a:t>
            </a:r>
            <a:r>
              <a:rPr sz="1400" b="0" dirty="0" err="1">
                <a:solidFill>
                  <a:srgbClr val="444444"/>
                </a:solidFill>
              </a:rPr>
              <a:t>identificadas</a:t>
            </a:r>
            <a:r>
              <a:rPr sz="1400" b="0" dirty="0">
                <a:solidFill>
                  <a:srgbClr val="444444"/>
                </a:solidFill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429000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1A579E"/>
                </a:solidFill>
              </a:rPr>
              <a:t>Objetivos</a:t>
            </a:r>
            <a:r>
              <a:rPr sz="1200" b="1" dirty="0">
                <a:solidFill>
                  <a:srgbClr val="1A579E"/>
                </a:solidFill>
              </a:rP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703320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444444"/>
                </a:solidFill>
              </a:rPr>
              <a:t>• </a:t>
            </a:r>
            <a:r>
              <a:rPr sz="1200" b="0" dirty="0" err="1">
                <a:solidFill>
                  <a:srgbClr val="444444"/>
                </a:solidFill>
              </a:rPr>
              <a:t>Monitorear</a:t>
            </a:r>
            <a:r>
              <a:rPr sz="1200" b="0" dirty="0">
                <a:solidFill>
                  <a:srgbClr val="444444"/>
                </a:solidFill>
              </a:rPr>
              <a:t> y </a:t>
            </a:r>
            <a:r>
              <a:rPr sz="1200" b="0" dirty="0" err="1">
                <a:solidFill>
                  <a:srgbClr val="444444"/>
                </a:solidFill>
              </a:rPr>
              <a:t>evaluar</a:t>
            </a:r>
            <a:r>
              <a:rPr sz="1200" b="0" dirty="0">
                <a:solidFill>
                  <a:srgbClr val="444444"/>
                </a:solidFill>
              </a:rPr>
              <a:t> </a:t>
            </a:r>
            <a:r>
              <a:rPr sz="1200" b="0" dirty="0" err="1">
                <a:solidFill>
                  <a:srgbClr val="444444"/>
                </a:solidFill>
              </a:rPr>
              <a:t>controles</a:t>
            </a:r>
            <a:r>
              <a:rPr sz="1200" b="0" dirty="0">
                <a:solidFill>
                  <a:srgbClr val="444444"/>
                </a:solidFill>
              </a:rPr>
              <a:t> </a:t>
            </a:r>
            <a:r>
              <a:rPr sz="1200" b="0" dirty="0" err="1">
                <a:solidFill>
                  <a:srgbClr val="444444"/>
                </a:solidFill>
              </a:rPr>
              <a:t>internos</a:t>
            </a:r>
            <a:r>
              <a:rPr sz="1200" b="0" dirty="0">
                <a:solidFill>
                  <a:srgbClr val="444444"/>
                </a:solidFill>
              </a:rPr>
              <a:t> de TI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105656"/>
            <a:ext cx="3520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444444"/>
                </a:solidFill>
              </a:rPr>
              <a:t>• </a:t>
            </a:r>
            <a:r>
              <a:rPr sz="1200" b="0" dirty="0" err="1">
                <a:solidFill>
                  <a:srgbClr val="444444"/>
                </a:solidFill>
              </a:rPr>
              <a:t>Identificar</a:t>
            </a:r>
            <a:r>
              <a:rPr sz="1200" b="0" dirty="0">
                <a:solidFill>
                  <a:srgbClr val="444444"/>
                </a:solidFill>
              </a:rPr>
              <a:t> </a:t>
            </a:r>
            <a:r>
              <a:rPr sz="1200" b="0" dirty="0" err="1">
                <a:solidFill>
                  <a:srgbClr val="444444"/>
                </a:solidFill>
              </a:rPr>
              <a:t>deficiencias</a:t>
            </a:r>
            <a:r>
              <a:rPr sz="1200" b="0" dirty="0">
                <a:solidFill>
                  <a:srgbClr val="444444"/>
                </a:solidFill>
              </a:rPr>
              <a:t> y </a:t>
            </a:r>
            <a:r>
              <a:rPr sz="1200" b="0" dirty="0" err="1">
                <a:solidFill>
                  <a:srgbClr val="444444"/>
                </a:solidFill>
              </a:rPr>
              <a:t>debilidades</a:t>
            </a:r>
            <a:r>
              <a:rPr sz="1200" b="0" dirty="0">
                <a:solidFill>
                  <a:srgbClr val="444444"/>
                </a:solidFill>
              </a:rPr>
              <a:t> de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507992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444444"/>
                </a:solidFill>
              </a:rPr>
              <a:t>• </a:t>
            </a:r>
            <a:r>
              <a:rPr sz="1200" b="0" dirty="0" err="1">
                <a:solidFill>
                  <a:srgbClr val="444444"/>
                </a:solidFill>
              </a:rPr>
              <a:t>Asegurar</a:t>
            </a:r>
            <a:r>
              <a:rPr sz="1200" b="0" dirty="0">
                <a:solidFill>
                  <a:srgbClr val="444444"/>
                </a:solidFill>
              </a:rPr>
              <a:t> </a:t>
            </a:r>
            <a:r>
              <a:rPr sz="1200" b="0" dirty="0" err="1">
                <a:solidFill>
                  <a:srgbClr val="444444"/>
                </a:solidFill>
              </a:rPr>
              <a:t>autoevaluación</a:t>
            </a:r>
            <a:r>
              <a:rPr sz="1200" b="0" dirty="0">
                <a:solidFill>
                  <a:srgbClr val="444444"/>
                </a:solidFill>
              </a:rPr>
              <a:t> continua de </a:t>
            </a:r>
            <a:r>
              <a:rPr sz="1200" b="0" dirty="0" err="1">
                <a:solidFill>
                  <a:srgbClr val="444444"/>
                </a:solidFill>
              </a:rPr>
              <a:t>controles</a:t>
            </a:r>
            <a:endParaRPr sz="1200" b="0" dirty="0">
              <a:solidFill>
                <a:srgbClr val="44444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389120" y="4910328"/>
            <a:ext cx="3520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444444"/>
                </a:solidFill>
              </a:rPr>
              <a:t>• </a:t>
            </a:r>
            <a:r>
              <a:rPr sz="1200" b="0" dirty="0" err="1">
                <a:solidFill>
                  <a:srgbClr val="444444"/>
                </a:solidFill>
              </a:rPr>
              <a:t>Proveer</a:t>
            </a:r>
            <a:r>
              <a:rPr sz="1200" b="0" dirty="0">
                <a:solidFill>
                  <a:srgbClr val="444444"/>
                </a:solidFill>
              </a:rPr>
              <a:t> </a:t>
            </a:r>
            <a:r>
              <a:rPr sz="1200" b="0" dirty="0" err="1">
                <a:solidFill>
                  <a:srgbClr val="444444"/>
                </a:solidFill>
              </a:rPr>
              <a:t>evidencia</a:t>
            </a:r>
            <a:r>
              <a:rPr sz="1200" b="0" dirty="0">
                <a:solidFill>
                  <a:srgbClr val="444444"/>
                </a:solidFill>
              </a:rPr>
              <a:t> del </a:t>
            </a:r>
            <a:r>
              <a:rPr sz="1200" b="0" dirty="0" err="1">
                <a:solidFill>
                  <a:srgbClr val="444444"/>
                </a:solidFill>
              </a:rPr>
              <a:t>funcionamiento</a:t>
            </a:r>
            <a:r>
              <a:rPr sz="1200" b="0" dirty="0">
                <a:solidFill>
                  <a:srgbClr val="444444"/>
                </a:solidFill>
              </a:rPr>
              <a:t> de </a:t>
            </a:r>
            <a:r>
              <a:rPr sz="1200" b="0" dirty="0" err="1">
                <a:solidFill>
                  <a:srgbClr val="444444"/>
                </a:solidFill>
              </a:rPr>
              <a:t>controles</a:t>
            </a:r>
            <a:endParaRPr sz="1200" b="0" dirty="0">
              <a:solidFill>
                <a:srgbClr val="444444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238744" y="1234440"/>
            <a:ext cx="3749039" cy="777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48471" y="126187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DSS05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12618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SEGURIDAD DE SERVICIOS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471" y="1600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chemeClr val="bg1"/>
                </a:solidFill>
              </a:rPr>
              <a:t>Entregar</a:t>
            </a:r>
            <a:r>
              <a:rPr sz="1400" b="0" dirty="0">
                <a:solidFill>
                  <a:schemeClr val="bg1"/>
                </a:solidFill>
              </a:rPr>
              <a:t>, Dar </a:t>
            </a:r>
            <a:r>
              <a:rPr sz="1400" b="0" dirty="0" err="1">
                <a:solidFill>
                  <a:schemeClr val="bg1"/>
                </a:solidFill>
              </a:rPr>
              <a:t>Servicio</a:t>
            </a:r>
            <a:r>
              <a:rPr sz="1400" b="0" dirty="0">
                <a:solidFill>
                  <a:schemeClr val="bg1"/>
                </a:solidFill>
              </a:rPr>
              <a:t> y </a:t>
            </a:r>
            <a:r>
              <a:rPr sz="1400" b="0" dirty="0" err="1">
                <a:solidFill>
                  <a:schemeClr val="bg1"/>
                </a:solidFill>
              </a:rPr>
              <a:t>Soporte</a:t>
            </a:r>
            <a:endParaRPr sz="1400" b="0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238744" y="2011680"/>
            <a:ext cx="3749039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348470" y="2075688"/>
            <a:ext cx="3520439" cy="2834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66759" y="2084830"/>
            <a:ext cx="35021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FFFFFF"/>
                </a:solidFill>
              </a:rPr>
              <a:t>Prioridad</a:t>
            </a:r>
            <a:r>
              <a:rPr sz="1400" b="1" dirty="0">
                <a:solidFill>
                  <a:srgbClr val="FFFFFF"/>
                </a:solidFill>
              </a:rPr>
              <a:t>: MEDIA-ALTA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8471" y="2395728"/>
            <a:ext cx="35204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444444"/>
                </a:solidFill>
              </a:rPr>
              <a:t>Con 1.000 apps la </a:t>
            </a:r>
            <a:r>
              <a:rPr sz="1400" b="0" dirty="0" err="1">
                <a:solidFill>
                  <a:srgbClr val="444444"/>
                </a:solidFill>
              </a:rPr>
              <a:t>superficie</a:t>
            </a:r>
            <a:r>
              <a:rPr sz="1400" b="0" dirty="0">
                <a:solidFill>
                  <a:srgbClr val="444444"/>
                </a:solidFill>
              </a:rPr>
              <a:t> de </a:t>
            </a:r>
            <a:r>
              <a:rPr sz="1400" b="0" dirty="0" err="1">
                <a:solidFill>
                  <a:srgbClr val="444444"/>
                </a:solidFill>
              </a:rPr>
              <a:t>ataque</a:t>
            </a:r>
            <a:r>
              <a:rPr sz="1400" b="0" dirty="0">
                <a:solidFill>
                  <a:srgbClr val="444444"/>
                </a:solidFill>
              </a:rPr>
              <a:t> </a:t>
            </a:r>
            <a:r>
              <a:rPr sz="1400" b="0" dirty="0" err="1">
                <a:solidFill>
                  <a:srgbClr val="444444"/>
                </a:solidFill>
              </a:rPr>
              <a:t>es</a:t>
            </a:r>
            <a:r>
              <a:rPr sz="1400" b="0" dirty="0">
                <a:solidFill>
                  <a:srgbClr val="444444"/>
                </a:solidFill>
              </a:rPr>
              <a:t> </a:t>
            </a:r>
            <a:r>
              <a:rPr sz="1400" b="0" dirty="0" err="1">
                <a:solidFill>
                  <a:srgbClr val="444444"/>
                </a:solidFill>
              </a:rPr>
              <a:t>amplia</a:t>
            </a:r>
            <a:r>
              <a:rPr sz="1400" b="0" dirty="0">
                <a:solidFill>
                  <a:srgbClr val="444444"/>
                </a:solidFill>
              </a:rPr>
              <a:t>. </a:t>
            </a:r>
            <a:r>
              <a:rPr sz="1400" b="0" dirty="0" err="1">
                <a:solidFill>
                  <a:srgbClr val="444444"/>
                </a:solidFill>
              </a:rPr>
              <a:t>Conecta</a:t>
            </a:r>
            <a:r>
              <a:rPr sz="1400" b="0" dirty="0">
                <a:solidFill>
                  <a:srgbClr val="444444"/>
                </a:solidFill>
              </a:rPr>
              <a:t> la </a:t>
            </a:r>
            <a:r>
              <a:rPr sz="1400" b="0" dirty="0" err="1">
                <a:solidFill>
                  <a:srgbClr val="444444"/>
                </a:solidFill>
              </a:rPr>
              <a:t>gestión</a:t>
            </a:r>
            <a:r>
              <a:rPr sz="1400" b="0" dirty="0">
                <a:solidFill>
                  <a:srgbClr val="444444"/>
                </a:solidFill>
              </a:rPr>
              <a:t> del </a:t>
            </a:r>
            <a:r>
              <a:rPr sz="1400" b="0" dirty="0" err="1">
                <a:solidFill>
                  <a:srgbClr val="444444"/>
                </a:solidFill>
              </a:rPr>
              <a:t>riesgo</a:t>
            </a:r>
            <a:r>
              <a:rPr sz="1400" b="0" dirty="0">
                <a:solidFill>
                  <a:srgbClr val="444444"/>
                </a:solidFill>
              </a:rPr>
              <a:t> con </a:t>
            </a:r>
            <a:r>
              <a:rPr sz="1400" b="0" dirty="0" err="1">
                <a:solidFill>
                  <a:srgbClr val="444444"/>
                </a:solidFill>
              </a:rPr>
              <a:t>controles</a:t>
            </a:r>
            <a:r>
              <a:rPr sz="1400" b="0" dirty="0">
                <a:solidFill>
                  <a:srgbClr val="444444"/>
                </a:solidFill>
              </a:rPr>
              <a:t> </a:t>
            </a:r>
            <a:r>
              <a:rPr sz="1400" b="0" dirty="0" err="1">
                <a:solidFill>
                  <a:srgbClr val="444444"/>
                </a:solidFill>
              </a:rPr>
              <a:t>técnicos</a:t>
            </a:r>
            <a:r>
              <a:rPr sz="1400" b="0" dirty="0">
                <a:solidFill>
                  <a:srgbClr val="444444"/>
                </a:solidFill>
              </a:rPr>
              <a:t> </a:t>
            </a:r>
            <a:r>
              <a:rPr sz="1400" b="0" dirty="0" err="1">
                <a:solidFill>
                  <a:srgbClr val="444444"/>
                </a:solidFill>
              </a:rPr>
              <a:t>operativos</a:t>
            </a:r>
            <a:r>
              <a:rPr sz="1400" b="0" dirty="0">
                <a:solidFill>
                  <a:srgbClr val="444444"/>
                </a:solidFill>
              </a:rPr>
              <a:t>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429000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2E86C1"/>
                </a:solidFill>
              </a:rPr>
              <a:t>Objetivos</a:t>
            </a:r>
            <a:r>
              <a:rPr sz="1200" b="1" dirty="0">
                <a:solidFill>
                  <a:srgbClr val="2E86C1"/>
                </a:solidFill>
              </a:rPr>
              <a:t>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1" y="3703320"/>
            <a:ext cx="3520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444444"/>
                </a:solidFill>
              </a:rPr>
              <a:t>• </a:t>
            </a:r>
            <a:r>
              <a:rPr sz="1200" b="0" dirty="0" err="1">
                <a:solidFill>
                  <a:srgbClr val="444444"/>
                </a:solidFill>
              </a:rPr>
              <a:t>Proteger</a:t>
            </a:r>
            <a:r>
              <a:rPr sz="1200" b="0" dirty="0">
                <a:solidFill>
                  <a:srgbClr val="444444"/>
                </a:solidFill>
              </a:rPr>
              <a:t> </a:t>
            </a:r>
            <a:r>
              <a:rPr sz="1200" b="0" dirty="0" err="1">
                <a:solidFill>
                  <a:srgbClr val="444444"/>
                </a:solidFill>
              </a:rPr>
              <a:t>información</a:t>
            </a:r>
            <a:r>
              <a:rPr sz="1200" b="0" dirty="0">
                <a:solidFill>
                  <a:srgbClr val="444444"/>
                </a:solidFill>
              </a:rPr>
              <a:t> ante </a:t>
            </a:r>
            <a:r>
              <a:rPr sz="1200" b="0" dirty="0" err="1">
                <a:solidFill>
                  <a:srgbClr val="444444"/>
                </a:solidFill>
              </a:rPr>
              <a:t>amenazas</a:t>
            </a:r>
            <a:r>
              <a:rPr sz="1200" b="0" dirty="0">
                <a:solidFill>
                  <a:srgbClr val="444444"/>
                </a:solidFill>
              </a:rPr>
              <a:t> </a:t>
            </a:r>
            <a:r>
              <a:rPr sz="1200" b="0" dirty="0" err="1">
                <a:solidFill>
                  <a:srgbClr val="444444"/>
                </a:solidFill>
              </a:rPr>
              <a:t>externas</a:t>
            </a:r>
            <a:r>
              <a:rPr sz="1200" b="0" dirty="0">
                <a:solidFill>
                  <a:srgbClr val="444444"/>
                </a:solidFill>
              </a:rPr>
              <a:t> e </a:t>
            </a:r>
            <a:r>
              <a:rPr sz="1200" b="0" dirty="0" err="1">
                <a:solidFill>
                  <a:srgbClr val="444444"/>
                </a:solidFill>
              </a:rPr>
              <a:t>internas</a:t>
            </a:r>
            <a:endParaRPr sz="1200" b="0" dirty="0">
              <a:solidFill>
                <a:srgbClr val="444444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348471" y="4230993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444444"/>
                </a:solidFill>
              </a:rPr>
              <a:t>• </a:t>
            </a:r>
            <a:r>
              <a:rPr sz="1200" b="0" dirty="0" err="1">
                <a:solidFill>
                  <a:srgbClr val="444444"/>
                </a:solidFill>
              </a:rPr>
              <a:t>Gestionar</a:t>
            </a:r>
            <a:r>
              <a:rPr sz="1200" b="0" dirty="0">
                <a:solidFill>
                  <a:srgbClr val="444444"/>
                </a:solidFill>
              </a:rPr>
              <a:t> </a:t>
            </a:r>
            <a:r>
              <a:rPr sz="1200" b="0" dirty="0" err="1">
                <a:solidFill>
                  <a:srgbClr val="444444"/>
                </a:solidFill>
              </a:rPr>
              <a:t>acceso</a:t>
            </a:r>
            <a:r>
              <a:rPr sz="1200" b="0" dirty="0">
                <a:solidFill>
                  <a:srgbClr val="444444"/>
                </a:solidFill>
              </a:rPr>
              <a:t> a </a:t>
            </a:r>
            <a:r>
              <a:rPr sz="1200" b="0" dirty="0" err="1">
                <a:solidFill>
                  <a:srgbClr val="444444"/>
                </a:solidFill>
              </a:rPr>
              <a:t>activos</a:t>
            </a:r>
            <a:r>
              <a:rPr sz="1200" b="0" dirty="0">
                <a:solidFill>
                  <a:srgbClr val="444444"/>
                </a:solidFill>
              </a:rPr>
              <a:t> de </a:t>
            </a:r>
            <a:r>
              <a:rPr sz="1200" b="0" dirty="0" err="1">
                <a:solidFill>
                  <a:srgbClr val="444444"/>
                </a:solidFill>
              </a:rPr>
              <a:t>información</a:t>
            </a:r>
            <a:endParaRPr sz="1200" b="0" dirty="0">
              <a:solidFill>
                <a:srgbClr val="444444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348471" y="4633329"/>
            <a:ext cx="3520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444444"/>
                </a:solidFill>
              </a:rPr>
              <a:t>• </a:t>
            </a:r>
            <a:r>
              <a:rPr sz="1200" b="0" dirty="0" err="1">
                <a:solidFill>
                  <a:srgbClr val="444444"/>
                </a:solidFill>
              </a:rPr>
              <a:t>Gestionar</a:t>
            </a:r>
            <a:r>
              <a:rPr sz="1200" b="0" dirty="0">
                <a:solidFill>
                  <a:srgbClr val="444444"/>
                </a:solidFill>
              </a:rPr>
              <a:t> </a:t>
            </a:r>
            <a:r>
              <a:rPr sz="1200" b="0" dirty="0" err="1">
                <a:solidFill>
                  <a:srgbClr val="444444"/>
                </a:solidFill>
              </a:rPr>
              <a:t>seguridad</a:t>
            </a:r>
            <a:r>
              <a:rPr sz="1200" b="0" dirty="0">
                <a:solidFill>
                  <a:srgbClr val="444444"/>
                </a:solidFill>
              </a:rPr>
              <a:t> de endpoints, </a:t>
            </a:r>
            <a:r>
              <a:rPr sz="1200" b="0" dirty="0" err="1">
                <a:solidFill>
                  <a:srgbClr val="444444"/>
                </a:solidFill>
              </a:rPr>
              <a:t>redes</a:t>
            </a:r>
            <a:r>
              <a:rPr sz="1200" b="0" dirty="0">
                <a:solidFill>
                  <a:srgbClr val="444444"/>
                </a:solidFill>
              </a:rPr>
              <a:t> y apps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1" y="5094994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444444"/>
                </a:solidFill>
              </a:rPr>
              <a:t>• </a:t>
            </a:r>
            <a:r>
              <a:rPr sz="1200" b="0" dirty="0" err="1">
                <a:solidFill>
                  <a:srgbClr val="444444"/>
                </a:solidFill>
              </a:rPr>
              <a:t>Evaluar</a:t>
            </a:r>
            <a:r>
              <a:rPr sz="1200" b="0" dirty="0">
                <a:solidFill>
                  <a:srgbClr val="444444"/>
                </a:solidFill>
              </a:rPr>
              <a:t> </a:t>
            </a:r>
            <a:r>
              <a:rPr sz="1200" b="0" dirty="0" err="1">
                <a:solidFill>
                  <a:srgbClr val="444444"/>
                </a:solidFill>
              </a:rPr>
              <a:t>nivel</a:t>
            </a:r>
            <a:r>
              <a:rPr sz="1200" b="0" dirty="0">
                <a:solidFill>
                  <a:srgbClr val="444444"/>
                </a:solidFill>
              </a:rPr>
              <a:t> de </a:t>
            </a:r>
            <a:r>
              <a:rPr sz="1200" b="0" dirty="0" err="1">
                <a:solidFill>
                  <a:srgbClr val="444444"/>
                </a:solidFill>
              </a:rPr>
              <a:t>protección</a:t>
            </a:r>
            <a:r>
              <a:rPr sz="1200" b="0" dirty="0">
                <a:solidFill>
                  <a:srgbClr val="444444"/>
                </a:solidFill>
              </a:rPr>
              <a:t> </a:t>
            </a:r>
            <a:r>
              <a:rPr sz="1200" b="0" dirty="0" err="1">
                <a:solidFill>
                  <a:srgbClr val="444444"/>
                </a:solidFill>
              </a:rPr>
              <a:t>por</a:t>
            </a:r>
            <a:r>
              <a:rPr sz="1200" b="0" dirty="0">
                <a:solidFill>
                  <a:srgbClr val="444444"/>
                </a:solidFill>
              </a:rPr>
              <a:t> </a:t>
            </a:r>
            <a:r>
              <a:rPr sz="1200" b="0" dirty="0" err="1">
                <a:solidFill>
                  <a:srgbClr val="444444"/>
                </a:solidFill>
              </a:rPr>
              <a:t>aplicación</a:t>
            </a:r>
            <a:endParaRPr sz="1200" b="0" dirty="0">
              <a:solidFill>
                <a:srgbClr val="44444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4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 err="1">
                <a:solidFill>
                  <a:srgbClr val="FFFFFF"/>
                </a:solidFill>
              </a:rPr>
              <a:t>Criterios</a:t>
            </a:r>
            <a:r>
              <a:rPr sz="2600" b="1" dirty="0">
                <a:solidFill>
                  <a:srgbClr val="FFFFFF"/>
                </a:solidFill>
              </a:rPr>
              <a:t> de </a:t>
            </a:r>
            <a:r>
              <a:rPr sz="2600" b="1" dirty="0" err="1">
                <a:solidFill>
                  <a:srgbClr val="FFFFFF"/>
                </a:solidFill>
              </a:rPr>
              <a:t>Aseguramiento</a:t>
            </a:r>
            <a:endParaRPr sz="2600" b="1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400" dirty="0">
                <a:solidFill>
                  <a:srgbClr val="ADD8E6"/>
                </a:solidFill>
              </a:rPr>
              <a:t>N</a:t>
            </a:r>
            <a:r>
              <a:rPr sz="1400" b="0" dirty="0" err="1" smtClean="0">
                <a:solidFill>
                  <a:srgbClr val="ADD8E6"/>
                </a:solidFill>
              </a:rPr>
              <a:t>iveles</a:t>
            </a:r>
            <a:r>
              <a:rPr sz="1400" b="0" dirty="0" smtClean="0">
                <a:solidFill>
                  <a:srgbClr val="ADD8E6"/>
                </a:solidFill>
              </a:rPr>
              <a:t> </a:t>
            </a:r>
            <a:r>
              <a:rPr sz="1400" b="0" dirty="0">
                <a:solidFill>
                  <a:srgbClr val="ADD8E6"/>
                </a:solidFill>
              </a:rPr>
              <a:t>de </a:t>
            </a:r>
            <a:r>
              <a:rPr sz="1400" b="0" dirty="0" err="1" smtClean="0">
                <a:solidFill>
                  <a:srgbClr val="ADD8E6"/>
                </a:solidFill>
              </a:rPr>
              <a:t>evaluación</a:t>
            </a:r>
            <a:r>
              <a:rPr sz="1400" b="0" dirty="0" smtClean="0">
                <a:solidFill>
                  <a:srgbClr val="ADD8E6"/>
                </a:solidFill>
              </a:rPr>
              <a:t> </a:t>
            </a:r>
            <a:r>
              <a:rPr sz="1400" b="0" dirty="0" err="1">
                <a:solidFill>
                  <a:srgbClr val="ADD8E6"/>
                </a:solidFill>
              </a:rPr>
              <a:t>organizacional</a:t>
            </a:r>
            <a:r>
              <a:rPr sz="1400" b="0" dirty="0">
                <a:solidFill>
                  <a:srgbClr val="ADD8E6"/>
                </a:solidFill>
              </a:rPr>
              <a:t> y </a:t>
            </a:r>
            <a:r>
              <a:rPr sz="1400" b="0" dirty="0" err="1">
                <a:solidFill>
                  <a:srgbClr val="ADD8E6"/>
                </a:solidFill>
              </a:rPr>
              <a:t>por</a:t>
            </a:r>
            <a:r>
              <a:rPr sz="1400" b="0" dirty="0">
                <a:solidFill>
                  <a:srgbClr val="ADD8E6"/>
                </a:solidFill>
              </a:rPr>
              <a:t> </a:t>
            </a:r>
            <a:r>
              <a:rPr sz="1400" b="0" dirty="0" err="1">
                <a:solidFill>
                  <a:srgbClr val="ADD8E6"/>
                </a:solidFill>
              </a:rPr>
              <a:t>aplicación</a:t>
            </a:r>
            <a:endParaRPr sz="1400" b="0" dirty="0">
              <a:solidFill>
                <a:srgbClr val="ADD8E6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57784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2618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NIVEL ORGANIZACIONAL – APO12 / MEA02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91640"/>
            <a:ext cx="5577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" y="1755648"/>
            <a:ext cx="347472" cy="347472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764792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764792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Política formal de gestión de riesgos aprobada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50008"/>
            <a:ext cx="5577840" cy="62179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7472" y="2414015"/>
            <a:ext cx="347472" cy="347472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" y="2423160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423160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Roles y responsabilidades (RACI) definidos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008376"/>
            <a:ext cx="5577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47472" y="3072384"/>
            <a:ext cx="347472" cy="347472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" y="308152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081528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Proceso documentado y ejecutado periódicamente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666744"/>
            <a:ext cx="5577840" cy="62179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7472" y="3730752"/>
            <a:ext cx="347472" cy="347472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7472" y="3739896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739896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Métricas KRI/KPI reportadas al comité directivo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325112"/>
            <a:ext cx="5577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7472" y="4389120"/>
            <a:ext cx="347472" cy="347472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7472" y="4398264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98264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Cultura de riesgo: capacitación y concientización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983479"/>
            <a:ext cx="5577840" cy="62179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47472" y="5047488"/>
            <a:ext cx="347472" cy="347472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7472" y="5056631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056631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Mejora continua: revisión y actualización de controles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1234440"/>
            <a:ext cx="557784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12618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NIVEL DE APLICACIÓN – DSS05 / APO12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1691640"/>
            <a:ext cx="55778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82512" y="1746504"/>
            <a:ext cx="320040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82512" y="1755648"/>
            <a:ext cx="320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17556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Inventario y clasificación por criticidad (CMDB)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2249424"/>
            <a:ext cx="5577840" cy="530352"/>
          </a:xfrm>
          <a:prstGeom prst="rect">
            <a:avLst/>
          </a:prstGeom>
          <a:solidFill>
            <a:srgbClr val="E4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82512" y="2304288"/>
            <a:ext cx="320040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82512" y="2313432"/>
            <a:ext cx="320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84848" y="2313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Risk assessment actualizado por aplicación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2807208"/>
            <a:ext cx="55778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382512" y="2862072"/>
            <a:ext cx="320040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82512" y="2871215"/>
            <a:ext cx="320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84848" y="287121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Controles técnicos implementados y operativos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3364992"/>
            <a:ext cx="5577840" cy="530352"/>
          </a:xfrm>
          <a:prstGeom prst="rect">
            <a:avLst/>
          </a:prstGeom>
          <a:solidFill>
            <a:srgbClr val="E4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382512" y="3419856"/>
            <a:ext cx="320040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82512" y="3429000"/>
            <a:ext cx="320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84848" y="3429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Pruebas de control periódicas (pentest, regresión)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3922776"/>
            <a:ext cx="55778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382512" y="3977639"/>
            <a:ext cx="320040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82512" y="3986783"/>
            <a:ext cx="320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84848" y="3986783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Gestión de accesos privilegiados (IAM)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4480560"/>
            <a:ext cx="5577840" cy="530352"/>
          </a:xfrm>
          <a:prstGeom prst="rect">
            <a:avLst/>
          </a:prstGeom>
          <a:solidFill>
            <a:srgbClr val="E4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382512" y="4535424"/>
            <a:ext cx="320040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82512" y="4544568"/>
            <a:ext cx="320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84848" y="45445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Plan de continuidad BCP/DRP documentado y probado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5038344"/>
            <a:ext cx="55778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382512" y="5093208"/>
            <a:ext cx="320040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82512" y="5102352"/>
            <a:ext cx="320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84848" y="51023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Gestión de vulnerabilidades (SAST, DAST, parches)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 err="1">
                <a:solidFill>
                  <a:srgbClr val="FFFFFF"/>
                </a:solidFill>
              </a:rPr>
              <a:t>Metodología</a:t>
            </a:r>
            <a:r>
              <a:rPr sz="2600" b="1" dirty="0">
                <a:solidFill>
                  <a:srgbClr val="FFFFFF"/>
                </a:solidFill>
              </a:rPr>
              <a:t> de </a:t>
            </a:r>
            <a:r>
              <a:rPr sz="2600" b="1" dirty="0" err="1">
                <a:solidFill>
                  <a:srgbClr val="FFFFFF"/>
                </a:solidFill>
              </a:rPr>
              <a:t>Evaluación</a:t>
            </a:r>
            <a:endParaRPr sz="2600" b="1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ADD8E6"/>
                </a:solidFill>
              </a:rPr>
              <a:t>Capability Assessment Model (COBIT / ISO 33000)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557784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26187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ESCALA DE CAPACIDAD DE PROCESOS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64208"/>
            <a:ext cx="5577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664208"/>
            <a:ext cx="164592" cy="6217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7007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0 – INCOMPLETO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97510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El proceso no existe o no logra su propósito básico.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22576"/>
            <a:ext cx="5577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322576"/>
            <a:ext cx="164592" cy="6217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2359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9C12"/>
                </a:solidFill>
              </a:rPr>
              <a:t>1 – EJECUTADO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6334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El proceso logra su propósito pero de forma informal.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980944"/>
            <a:ext cx="5577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980944"/>
            <a:ext cx="164592" cy="62179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</a:rPr>
              <a:t>2 – GESTIONADO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2918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El proceso es planificado, monitoreado y controlado.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639312"/>
            <a:ext cx="5577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3639312"/>
            <a:ext cx="164592" cy="62179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3675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8B4C"/>
                </a:solidFill>
              </a:rPr>
              <a:t>3 – ESTABLECIDO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9502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El proceso usa un estándar documentado y consistente.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234440"/>
            <a:ext cx="5577840" cy="384048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126187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PASOS DEL PROCESO DE EVALUACIÓN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664208"/>
            <a:ext cx="55778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1664208"/>
            <a:ext cx="804672" cy="64008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27648" y="169164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PASO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87184" y="16916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Entrevistas estructuradas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7184" y="19476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</a:rPr>
              <a:t>CRO, CISO, líderes de TI (45–60 min/sesión)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350008"/>
            <a:ext cx="5577840" cy="6400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09360" y="2350008"/>
            <a:ext cx="804672" cy="64008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27648" y="237744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PASO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87184" y="23774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Revisión documental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87184" y="2633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</a:rPr>
              <a:t>Políticas, matrices de riesgo, auditorías previas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035808"/>
            <a:ext cx="55778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09360" y="3035808"/>
            <a:ext cx="804672" cy="64008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27648" y="306324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PASO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87184" y="30632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Cuestionario de autoevaluación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87184" y="33192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</a:rPr>
              <a:t>Basado en prácticas COBIT APO12 y MEA02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3721608"/>
            <a:ext cx="5577840" cy="6400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09360" y="3721608"/>
            <a:ext cx="804672" cy="64008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27648" y="3749039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PASO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87184" y="3749039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Scoring por práctica de gestión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87184" y="40050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</a:rPr>
              <a:t>Promediado para obtener nivel de capacidad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4407408"/>
            <a:ext cx="804672" cy="64008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27648" y="443484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PASO 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87184" y="44348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Gap Analysis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315968"/>
            <a:ext cx="1156716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7200" y="4343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ESTRATIFICACIÓN DE APLICACIONES (1.000 APPS)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736592"/>
            <a:ext cx="36576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20040" y="4736592"/>
            <a:ext cx="3657600" cy="43891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11479" y="4764024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200" b="1" dirty="0" smtClean="0">
                <a:solidFill>
                  <a:srgbClr val="FFFFFF"/>
                </a:solidFill>
              </a:rPr>
              <a:t>NIVEL </a:t>
            </a:r>
            <a:r>
              <a:rPr sz="1200" b="1" dirty="0" smtClean="0">
                <a:solidFill>
                  <a:srgbClr val="FFFFFF"/>
                </a:solidFill>
              </a:rPr>
              <a:t>1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11479" y="5212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5–10 apps críticas
(Core bancario, ERP)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79" y="57424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</a:rPr>
              <a:t>Evaluación completa
Profundidad ALTA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60520" y="4736592"/>
            <a:ext cx="36576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160520" y="4736592"/>
            <a:ext cx="3657600" cy="438912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251959" y="4764024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200" b="1" dirty="0" smtClean="0">
                <a:solidFill>
                  <a:srgbClr val="FFFFFF"/>
                </a:solidFill>
              </a:rPr>
              <a:t>NIVEL  </a:t>
            </a:r>
            <a:r>
              <a:rPr sz="1200" b="1" dirty="0" smtClean="0">
                <a:solidFill>
                  <a:srgbClr val="FFFFFF"/>
                </a:solidFill>
              </a:rPr>
              <a:t>2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251959" y="5212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50–80 apps importantes
(CRM, BI, portales)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06240" y="57587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579E"/>
                </a:solidFill>
              </a:rPr>
              <a:t>Evaluación simplificada
Profundidad MEDIA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01000" y="4736592"/>
            <a:ext cx="36576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001000" y="4736592"/>
            <a:ext cx="3657600" cy="43891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092440" y="4764024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200" b="1" dirty="0" smtClean="0">
                <a:solidFill>
                  <a:srgbClr val="FFFFFF"/>
                </a:solidFill>
              </a:rPr>
              <a:t>NIVEL  </a:t>
            </a:r>
            <a:r>
              <a:rPr sz="1200" b="1" dirty="0" smtClean="0">
                <a:solidFill>
                  <a:srgbClr val="FFFFFF"/>
                </a:solidFill>
              </a:rPr>
              <a:t>3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092440" y="5212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Resto del portafolio
(apps de soporte)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2440" y="57424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86C1"/>
                </a:solidFill>
              </a:rPr>
              <a:t>Checklist automatizado
Profundidad BÁSICA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Roadmap de Implementación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Tres fases progresivas con entregables concretos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3794760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261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DIAGNÓSTICO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39" y="1252728"/>
            <a:ext cx="1353312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24327" y="1261872"/>
            <a:ext cx="13167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</a:rPr>
              <a:t>Meses 1 –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12848"/>
            <a:ext cx="3794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224028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</a:rPr>
              <a:t>Establecer la línea base de riesgo y visibilidad del portafolio.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06624"/>
            <a:ext cx="3794760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272491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ACTIVIDADES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17520"/>
            <a:ext cx="3794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303580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• Definir marco de evaluación: criterios, pesos y escalas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401568"/>
            <a:ext cx="3794760" cy="36576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341985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• Entrevistas organizacionales (APO12 / MEA02)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85615"/>
            <a:ext cx="3794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380390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• Clasificar inventario 1.000 apps (Tier 1/2/3)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169663"/>
            <a:ext cx="3794760" cy="36576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" y="418795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• Ejecutar cuestionario de autoevaluación COBIT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553712"/>
            <a:ext cx="3794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457200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• Consolidar hallazgos y niveles de capacidad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937760"/>
            <a:ext cx="3794760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048" y="49560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ENTREGABLES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248656"/>
            <a:ext cx="37947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" y="526694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✔ Informe de nivel de capacidad actual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596128"/>
            <a:ext cx="3794760" cy="329184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4048" y="561441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✔ Mapa de calor de riesgos del portafolio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943600"/>
            <a:ext cx="37947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8" y="596188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✔ Clasificación Tier 1 / Tier 2 / Tier 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59" y="1234440"/>
            <a:ext cx="3794760" cy="96012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61688" y="1261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FASE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1688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EVALUACIÓN DETALLADA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79" y="1252728"/>
            <a:ext cx="1353312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01967" y="1261872"/>
            <a:ext cx="13167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579E"/>
                </a:solidFill>
              </a:rPr>
              <a:t>Meses 3 – 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51959" y="2212848"/>
            <a:ext cx="3794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61688" y="224028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</a:rPr>
              <a:t>Evaluar el nivel de aseguramiento por aplicación y proceso.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59" y="2706624"/>
            <a:ext cx="3794760" cy="292608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61688" y="272491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ACTIVIDADES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59" y="3017520"/>
            <a:ext cx="3794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61688" y="303580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• Evaluación completa de apps Tier 1 (5-10 críticas)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51959" y="3401568"/>
            <a:ext cx="3794760" cy="36576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61688" y="341985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• Evaluación simplificada de apps Tier 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51959" y="3785615"/>
            <a:ext cx="3794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61688" y="380390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• Identificación de brechas y riesgos no gestionados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59" y="4169663"/>
            <a:ext cx="3794760" cy="36576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61688" y="418795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• Validación de hallazgos con responsables de app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51959" y="4553712"/>
            <a:ext cx="3794760" cy="292608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361688" y="4571999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ENTREGABLES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51959" y="4864607"/>
            <a:ext cx="37947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61688" y="488289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✔ Risk register individual por aplicación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59" y="5212079"/>
            <a:ext cx="3794760" cy="329184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361688" y="523036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✔ Informe consolidado por proceso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51959" y="5559551"/>
            <a:ext cx="37947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61688" y="557784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✔ Mapa de brechas con priorización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0" y="1234440"/>
            <a:ext cx="3794760" cy="9601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39327" y="1261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FASE 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39327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REMEDIACIÓN Y GOBIERNO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561320" y="1252728"/>
            <a:ext cx="1353312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579608" y="1261872"/>
            <a:ext cx="13167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E8B4C"/>
                </a:solidFill>
              </a:rPr>
              <a:t>Meses 6 – 12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0" y="2212848"/>
            <a:ext cx="3794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39327" y="224028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</a:rPr>
              <a:t>Cerrar brechas y establecer modelo de gobierno sostenible.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0" y="2706624"/>
            <a:ext cx="3794760" cy="2926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339327" y="272491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ACTIVIDADES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29600" y="3017520"/>
            <a:ext cx="3794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39327" y="303580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• Plan de tratamiento de riesgos priorizado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29600" y="3401568"/>
            <a:ext cx="3794760" cy="36576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39327" y="341985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• Implementar KRIs por proceso y aplicación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0" y="3785615"/>
            <a:ext cx="3794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339327" y="380390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• Comité de riesgo TI con cadencia periódica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29600" y="4169663"/>
            <a:ext cx="3794760" cy="36576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339327" y="418795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• Modelo operativo de gobierno continuo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29600" y="4553712"/>
            <a:ext cx="3794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339327" y="457200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• Capacitaciones a equipos responsables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0" y="4937760"/>
            <a:ext cx="3794760" cy="2926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339327" y="49560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ENTREGABLES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29600" y="5248656"/>
            <a:ext cx="37947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339327" y="526694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✔ Plan de tratamiento con responsables y fechas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29600" y="5596128"/>
            <a:ext cx="3794760" cy="329184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39327" y="561441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✔ Marco de gobierno operativo de riesgo TI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29600" y="5943600"/>
            <a:ext cx="37947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39327" y="596188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✔ Primer reporte ejecutivo al comité directivo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Quick Wins: Resultados Tempranos y Medibles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Demostrando valor desde las primeras semanas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51560" y="1234440"/>
            <a:ext cx="2286000" cy="6400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30 DÍAS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920240"/>
            <a:ext cx="3749039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920240"/>
            <a:ext cx="3749039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" y="19476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ENTREGABLE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28600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Inventario clasificado de las 1.000 aplicaciones por criticidad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880360"/>
            <a:ext cx="3749039" cy="29260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" y="2898648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</a:rPr>
              <a:t>VALOR GENERADO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320040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Visibilidad inmediata del portafolio sin alto costo de implementación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931920"/>
            <a:ext cx="3749039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9768" y="3950208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MENSAJE EJECUTIVO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4279392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55"/>
                </a:solidFill>
              </a:rPr>
              <a:t>"En un mes, sabremos dónde están
nuestras apps más críticas."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10912" y="1234440"/>
            <a:ext cx="2286000" cy="64008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10912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60 DÍAS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9392" y="1920240"/>
            <a:ext cx="3749039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79392" y="1920240"/>
            <a:ext cx="3749039" cy="32004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0" y="19476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ENTREGABLE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28600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Diagnóstico del proceso APO12 a nivel organizacional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9392" y="2880360"/>
            <a:ext cx="3749039" cy="29260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89120" y="2898648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</a:rPr>
              <a:t>VALOR GENERADO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20040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Línea base clara que justifica y dimensiona el resto de la inversión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9392" y="3931920"/>
            <a:ext cx="3749039" cy="292608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9120" y="3950208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MENSAJE EJECUTIVO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279392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579E"/>
                </a:solidFill>
              </a:rPr>
              <a:t>"En dos meses, tendremos el diagnóstico
formal y un mapa de brechas accionable."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70264" y="1234440"/>
            <a:ext cx="2286000" cy="6400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70264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90 DÍAS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38744" y="1920240"/>
            <a:ext cx="3749039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38744" y="1920240"/>
            <a:ext cx="3749039" cy="3200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48471" y="19476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ENTREGABLE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471" y="228600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Evaluación completa de las 5 aplicaciones Tier 1 más críticas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38744" y="2880360"/>
            <a:ext cx="3749039" cy="29260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48471" y="2898648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</a:rPr>
              <a:t>VALOR GENERADO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1" y="320040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Conocimiento concreto del riesgo en los activos más sensibles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38744" y="3931920"/>
            <a:ext cx="3749039" cy="2926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48471" y="3950208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MENSAJE EJECUTIVO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1" y="4279392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8B4C"/>
                </a:solidFill>
              </a:rPr>
              <a:t>"En tres meses, sabremos si nuestras apps
más críticas están realmente protegidas."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Propuesta de Valor para el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Esta iniciativa no es un gasto; es una inversión que protege y genera valor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5623560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" y="12527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PARA EL CTO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572768"/>
            <a:ext cx="5623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618488"/>
            <a:ext cx="5349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"Hoy no sabemos cuáles de nuestras 1.000 aplicaciones representan el mayor riesgo. Esta propuesta nos da visibilidad real y permite priorizar los controles donde más se necesitan, sin intervenir todo el portafolio desde el primer día."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5623560" cy="32004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12527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PARA EL GERENTE DEL ÁREA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572768"/>
            <a:ext cx="5623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618488"/>
            <a:ext cx="5349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</a:rPr>
              <a:t>"Las observaciones recientes nos exponen a sanciones regulatorias y pérdida de reputación. Esta iniciativa reduce esa exposición de forma medible y nos posiciona favorablemente en la próxima auditoría."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34640"/>
            <a:ext cx="1156716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862072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BENEFICIOS CONCRETOS PARA LA ORGANIZACIÓN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246120"/>
            <a:ext cx="115671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3319272"/>
            <a:ext cx="274320" cy="2743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28269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Reducción de exposición al riesgo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826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Priorizamos esfuerzo donde más duele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840480"/>
            <a:ext cx="11567160" cy="56692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3913632"/>
            <a:ext cx="274320" cy="2743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87705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Cumplimiento regulatorio mejorado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7705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Reducimos observaciones en auditorías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434840"/>
            <a:ext cx="115671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480" y="4507992"/>
            <a:ext cx="274320" cy="27432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47141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Visibilidad ejecutiva del riesgo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47141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Dashboard de riesgo por aplicación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029200"/>
            <a:ext cx="11567160" cy="56692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11480" y="5102352"/>
            <a:ext cx="274320" cy="274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506577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Optimización de inversión en 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06577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Sabemos dónde están los controles débiles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623560"/>
            <a:ext cx="115671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11480" y="5696712"/>
            <a:ext cx="274320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56601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Cultura organizacional de riesgo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66013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El equipo conoce y aplica el marco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Recursos Necesarios y 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Lo que necesitamos para arrancar y la hoja de ruta inmediata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30352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26187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RECURSOS MÍNIMOS PARA ARRANCAR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64208"/>
            <a:ext cx="530352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1719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D2B55"/>
                </a:solidFill>
              </a:rPr>
              <a:t>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190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1 Líder de metodología de riesgo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011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Responsable de la propuesta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468880"/>
            <a:ext cx="5303520" cy="76809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5237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D2B55"/>
                </a:solidFill>
              </a:rPr>
              <a:t>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52374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2 Analistas de riesgo 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8163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Ejecución de entrevistas y scoring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73552"/>
            <a:ext cx="530352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332841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D2B55"/>
                </a:solidFill>
              </a:rPr>
              <a:t>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28415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Acceso coordinado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6210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CISO, líderes de apps, responsables de proceso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078224"/>
            <a:ext cx="5303520" cy="76809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" y="413308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D2B55"/>
                </a:solidFill>
              </a:rPr>
              <a:t>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133087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Herramienta de gestión de riesgo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42569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444444"/>
                </a:solidFill>
              </a:rPr>
              <a:t>Puede</a:t>
            </a:r>
            <a:r>
              <a:rPr sz="1000" b="0" dirty="0">
                <a:solidFill>
                  <a:srgbClr val="444444"/>
                </a:solidFill>
              </a:rPr>
              <a:t> </a:t>
            </a:r>
            <a:r>
              <a:rPr sz="1000" b="0" dirty="0" err="1">
                <a:solidFill>
                  <a:srgbClr val="444444"/>
                </a:solidFill>
              </a:rPr>
              <a:t>iniciarse</a:t>
            </a:r>
            <a:r>
              <a:rPr sz="1000" b="0" dirty="0">
                <a:solidFill>
                  <a:srgbClr val="444444"/>
                </a:solidFill>
              </a:rPr>
              <a:t> </a:t>
            </a:r>
            <a:r>
              <a:rPr sz="1000" b="0" dirty="0" err="1">
                <a:solidFill>
                  <a:srgbClr val="444444"/>
                </a:solidFill>
              </a:rPr>
              <a:t>en</a:t>
            </a:r>
            <a:r>
              <a:rPr sz="1000" b="0" dirty="0">
                <a:solidFill>
                  <a:srgbClr val="444444"/>
                </a:solidFill>
              </a:rPr>
              <a:t> Excel / Google Sheets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234440"/>
            <a:ext cx="5760720" cy="384048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126187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PRÓXIMOS PASOS INMEDIATOS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664208"/>
            <a:ext cx="576072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99632" y="1728216"/>
            <a:ext cx="621792" cy="50292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9632" y="1737360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PASO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172821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Aprobación de la iniciativa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0299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Definición del equipo de trabajo y asignación de recursos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2468880"/>
            <a:ext cx="5760720" cy="76809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99632" y="2532888"/>
            <a:ext cx="621792" cy="50292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99632" y="2542032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PASO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253288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Taller de alineación ejecutiva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2834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CTO, CISO y Gerente del Área – duración: 2 horas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3273552"/>
            <a:ext cx="576072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99632" y="3337560"/>
            <a:ext cx="621792" cy="50292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99632" y="3346704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PASO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33375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Inventario y clasificación del portafolio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36393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Inicio de levantamiento y categorización de las 1.000 apps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4078224"/>
            <a:ext cx="5760720" cy="76809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99632" y="4142232"/>
            <a:ext cx="621792" cy="50292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99632" y="4151376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PASO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414223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Primera sesión de entrevistas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4439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Evaluación organizacional APO12 y MEA02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4882896"/>
            <a:ext cx="576072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99632" y="4946904"/>
            <a:ext cx="621792" cy="50292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99632" y="4956048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PASO 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494690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Presentación al comité directivo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52486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Resultados del diagnóstico – Semana 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900844"/>
            <a:ext cx="12188952" cy="3200400"/>
          </a:xfrm>
          <a:prstGeom prst="rect">
            <a:avLst/>
          </a:prstGeom>
          <a:solidFill>
            <a:srgbClr val="1A5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5236" y="2860964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dirty="0">
                <a:solidFill>
                  <a:srgbClr val="FFFFFF"/>
                </a:solidFill>
              </a:rPr>
              <a:t>"La </a:t>
            </a:r>
            <a:r>
              <a:rPr sz="2600" b="1" dirty="0" err="1">
                <a:solidFill>
                  <a:srgbClr val="FFFFFF"/>
                </a:solidFill>
              </a:rPr>
              <a:t>gestión</a:t>
            </a:r>
            <a:r>
              <a:rPr sz="2600" b="1" dirty="0">
                <a:solidFill>
                  <a:srgbClr val="FFFFFF"/>
                </a:solidFill>
              </a:rPr>
              <a:t> del </a:t>
            </a:r>
            <a:r>
              <a:rPr sz="2600" b="1" dirty="0" err="1">
                <a:solidFill>
                  <a:srgbClr val="FFFFFF"/>
                </a:solidFill>
              </a:rPr>
              <a:t>riesgo</a:t>
            </a:r>
            <a:r>
              <a:rPr sz="2600" b="1" dirty="0">
                <a:solidFill>
                  <a:srgbClr val="FFFFFF"/>
                </a:solidFill>
              </a:rPr>
              <a:t> no </a:t>
            </a:r>
            <a:r>
              <a:rPr sz="2600" b="1" dirty="0" err="1">
                <a:solidFill>
                  <a:srgbClr val="FFFFFF"/>
                </a:solidFill>
              </a:rPr>
              <a:t>es</a:t>
            </a:r>
            <a:r>
              <a:rPr sz="2600" b="1" dirty="0">
                <a:solidFill>
                  <a:srgbClr val="FFFFFF"/>
                </a:solidFill>
              </a:rPr>
              <a:t> un </a:t>
            </a:r>
            <a:r>
              <a:rPr sz="2600" b="1" dirty="0" err="1">
                <a:solidFill>
                  <a:srgbClr val="FFFFFF"/>
                </a:solidFill>
              </a:rPr>
              <a:t>proyecto</a:t>
            </a:r>
            <a:r>
              <a:rPr sz="2600" b="1" dirty="0">
                <a:solidFill>
                  <a:srgbClr val="FFFFFF"/>
                </a:solidFill>
              </a:rPr>
              <a:t>;
</a:t>
            </a:r>
            <a:r>
              <a:rPr sz="2600" b="1" dirty="0" err="1">
                <a:solidFill>
                  <a:srgbClr val="FFFFFF"/>
                </a:solidFill>
              </a:rPr>
              <a:t>es</a:t>
            </a:r>
            <a:r>
              <a:rPr sz="2600" b="1" dirty="0">
                <a:solidFill>
                  <a:srgbClr val="FFFFFF"/>
                </a:solidFill>
              </a:rPr>
              <a:t> </a:t>
            </a:r>
            <a:r>
              <a:rPr sz="2600" b="1" dirty="0" err="1">
                <a:solidFill>
                  <a:srgbClr val="FFFFFF"/>
                </a:solidFill>
              </a:rPr>
              <a:t>una</a:t>
            </a:r>
            <a:r>
              <a:rPr sz="2600" b="1" dirty="0">
                <a:solidFill>
                  <a:srgbClr val="FFFFFF"/>
                </a:solidFill>
              </a:rPr>
              <a:t> </a:t>
            </a:r>
            <a:r>
              <a:rPr sz="2600" b="1" dirty="0" err="1">
                <a:solidFill>
                  <a:srgbClr val="FFFFFF"/>
                </a:solidFill>
              </a:rPr>
              <a:t>capacidad</a:t>
            </a:r>
            <a:r>
              <a:rPr sz="2600" b="1" dirty="0">
                <a:solidFill>
                  <a:srgbClr val="FFFFFF"/>
                </a:solidFill>
              </a:rPr>
              <a:t> </a:t>
            </a:r>
            <a:r>
              <a:rPr sz="2600" b="1" dirty="0" err="1">
                <a:solidFill>
                  <a:srgbClr val="FFFFFF"/>
                </a:solidFill>
              </a:rPr>
              <a:t>organizacional</a:t>
            </a:r>
            <a:r>
              <a:rPr sz="2600" b="1" dirty="0">
                <a:solidFill>
                  <a:srgbClr val="FFFFFF"/>
                </a:solidFill>
              </a:rPr>
              <a:t>."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129</TotalTime>
  <Words>1476</Words>
  <Application>Microsoft Office PowerPoint</Application>
  <PresentationFormat>Personalizado</PresentationFormat>
  <Paragraphs>272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Trebuchet MS</vt:lpstr>
      <vt:lpstr>Wingdings 3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Cristian Moquera</cp:lastModifiedBy>
  <cp:revision>14</cp:revision>
  <dcterms:created xsi:type="dcterms:W3CDTF">2013-01-27T09:14:16Z</dcterms:created>
  <dcterms:modified xsi:type="dcterms:W3CDTF">2026-05-12T20:44:16Z</dcterms:modified>
  <cp:category/>
</cp:coreProperties>
</file>